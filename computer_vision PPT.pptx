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319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3D3550"/>
          </a:solidFill>
          <a:ln w="12700">
            <a:solidFill>
              <a:srgbClr val="3D35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C8B6E2">
              <a:alpha val="25000"/>
            </a:srgbClr>
          </a:solidFill>
          <a:ln w="12700">
            <a:solidFill>
              <a:srgbClr val="C8B6E2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3474720"/>
            <a:ext cx="1828800" cy="1828800"/>
          </a:xfrm>
          <a:prstGeom prst="ellipse">
            <a:avLst/>
          </a:prstGeom>
          <a:solidFill>
            <a:srgbClr val="A8C3A0">
              <a:alpha val="25000"/>
            </a:srgbClr>
          </a:solidFill>
          <a:ln w="12700">
            <a:solidFill>
              <a:srgbClr val="A8C3A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4114800"/>
            <a:ext cx="2743200" cy="2743200"/>
          </a:xfrm>
          <a:prstGeom prst="ellipse">
            <a:avLst/>
          </a:prstGeom>
          <a:solidFill>
            <a:srgbClr val="D8A7B1">
              <a:alpha val="20000"/>
            </a:srgbClr>
          </a:solidFill>
          <a:ln w="12700">
            <a:solidFill>
              <a:srgbClr val="D8A7B1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C8B6E2">
              <a:alpha val="20000"/>
            </a:srgbClr>
          </a:solidFill>
          <a:ln w="12700">
            <a:solidFill>
              <a:srgbClr val="C8B6E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457200"/>
            <a:ext cx="1097280" cy="1097280"/>
          </a:xfrm>
          <a:prstGeom prst="ellipse">
            <a:avLst/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4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640080" cy="640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737360" y="457200"/>
            <a:ext cx="1097280" cy="1097280"/>
          </a:xfrm>
          <a:prstGeom prst="ellipse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4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685800"/>
            <a:ext cx="640080" cy="640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0040" y="1645920"/>
            <a:ext cx="1097280" cy="1097280"/>
          </a:xfrm>
          <a:prstGeom prst="ellipse">
            <a:avLst/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40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74520"/>
            <a:ext cx="640080" cy="6400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737360" y="1645920"/>
            <a:ext cx="1097280" cy="1097280"/>
          </a:xfrm>
          <a:prstGeom prst="ellipse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4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187452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432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8B6E2">
                    <a:alpha val="40000"/>
                  </a:srgbClr>
                </a:solidFill>
              </a:rPr>
              <a:t>CV</a:t>
            </a:r>
            <a:endParaRPr lang="en-US" sz="7200" dirty="0"/>
          </a:p>
        </p:txBody>
      </p:sp>
      <p:sp>
        <p:nvSpPr>
          <p:cNvPr id="16" name="Text 10"/>
          <p:cNvSpPr/>
          <p:nvPr/>
        </p:nvSpPr>
        <p:spPr>
          <a:xfrm>
            <a:off x="3657600" y="6400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Vision</a:t>
            </a:r>
            <a:endParaRPr lang="en-US" sz="4000" dirty="0"/>
          </a:p>
        </p:txBody>
      </p:sp>
      <p:sp>
        <p:nvSpPr>
          <p:cNvPr id="17" name="Shape 11"/>
          <p:cNvSpPr/>
          <p:nvPr/>
        </p:nvSpPr>
        <p:spPr>
          <a:xfrm>
            <a:off x="3657600" y="1874520"/>
            <a:ext cx="2286000" cy="45720"/>
          </a:xfrm>
          <a:prstGeom prst="rect">
            <a:avLst/>
          </a:prstGeom>
          <a:solidFill>
            <a:srgbClr val="A8C3A0"/>
          </a:solidFill>
          <a:ln w="12700">
            <a:solidFill>
              <a:srgbClr val="A8C3A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65760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 •  Body Structure Analysis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Architecture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657600" y="41148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858000" y="2926080"/>
            <a:ext cx="1920240" cy="1920240"/>
          </a:xfrm>
          <a:prstGeom prst="roundRect">
            <a:avLst>
              <a:gd name="adj" fmla="val 7143"/>
            </a:avLst>
          </a:prstGeom>
          <a:solidFill>
            <a:srgbClr val="C8B6E2">
              <a:alpha val="2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1546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C3A0">
              <a:alpha val="85000"/>
            </a:srgbClr>
          </a:solidFill>
          <a:ln w="12700">
            <a:solidFill>
              <a:srgbClr val="A8C3A0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Computer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73152" cy="1097280"/>
          </a:xfrm>
          <a:prstGeom prst="rect">
            <a:avLst/>
          </a:prstGeom>
          <a:solidFill>
            <a:srgbClr val="A8C3A0"/>
          </a:solidFill>
          <a:ln w="12700">
            <a:solidFill>
              <a:srgbClr val="A8C3A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24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4904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of AI enabling machines to interpret and understand visual information from images and videos.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228600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286000"/>
            <a:ext cx="73152" cy="109728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359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27249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automation, healthcare diagnostics, autonomous vehicles, and real-time surveillance systems.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3520440"/>
            <a:ext cx="5303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3520440"/>
            <a:ext cx="73152" cy="1097280"/>
          </a:xfrm>
          <a:prstGeom prst="rect">
            <a:avLst/>
          </a:prstGeom>
          <a:solidFill>
            <a:srgbClr val="D8A7B1"/>
          </a:solidFill>
          <a:ln w="12700">
            <a:solidFill>
              <a:srgbClr val="D8A7B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0332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See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39593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represented as pixel matrices; CNNs extract features through layers of convolution and pooling.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943600" y="105156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C8B6E2">
              <a:alpha val="40000"/>
            </a:srgbClr>
          </a:solidFill>
          <a:ln w="12700">
            <a:solidFill>
              <a:srgbClr val="C8B6E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03504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👁</a:t>
            </a:r>
            <a:endParaRPr lang="en-US" sz="5600" dirty="0"/>
          </a:p>
        </p:txBody>
      </p:sp>
      <p:sp>
        <p:nvSpPr>
          <p:cNvPr id="21" name="Text 16"/>
          <p:cNvSpPr/>
          <p:nvPr/>
        </p:nvSpPr>
        <p:spPr>
          <a:xfrm>
            <a:off x="6035040" y="2057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223760" y="2560320"/>
            <a:ext cx="45720" cy="457200"/>
          </a:xfrm>
          <a:prstGeom prst="rect">
            <a:avLst/>
          </a:prstGeom>
          <a:solidFill>
            <a:srgbClr val="6B5B7B"/>
          </a:solidFill>
          <a:ln w="12700">
            <a:solidFill>
              <a:srgbClr val="6B5B7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035040" y="3017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📷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603504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8A7B1">
              <a:alpha val="80000"/>
            </a:srgbClr>
          </a:solidFill>
          <a:ln w="12700">
            <a:solidFill>
              <a:srgbClr val="D8A7B1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 of Computer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554480" cy="36576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D8A7B1">
              <a:alpha val="75000"/>
            </a:srgbClr>
          </a:solidFill>
          <a:ln w="12700">
            <a:solidFill>
              <a:srgbClr val="D8A7B1">
                <a:alpha val="7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880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" y="4526280"/>
            <a:ext cx="1554480" cy="228600"/>
          </a:xfrm>
          <a:prstGeom prst="rect">
            <a:avLst/>
          </a:prstGeom>
          <a:solidFill>
            <a:srgbClr val="D8A7B1">
              <a:alpha val="60000"/>
            </a:srgbClr>
          </a:solidFill>
          <a:ln w="12700">
            <a:solidFill>
              <a:srgbClr val="D8A7B1">
                <a:alpha val="6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39112" y="1097280"/>
            <a:ext cx="1554480" cy="36576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59152" y="1325880"/>
            <a:ext cx="914400" cy="914400"/>
          </a:xfrm>
          <a:prstGeom prst="ellipse">
            <a:avLst/>
          </a:prstGeom>
          <a:solidFill>
            <a:srgbClr val="A8C3A0">
              <a:alpha val="75000"/>
            </a:srgbClr>
          </a:solidFill>
          <a:ln w="12700">
            <a:solidFill>
              <a:srgbClr val="A8C3A0">
                <a:alpha val="7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1417320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39112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39112" y="2880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monitoring,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detection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039112" y="4526280"/>
            <a:ext cx="1554480" cy="228600"/>
          </a:xfrm>
          <a:prstGeom prst="rect">
            <a:avLst/>
          </a:prstGeom>
          <a:solidFill>
            <a:srgbClr val="A8C3A0">
              <a:alpha val="60000"/>
            </a:srgbClr>
          </a:solidFill>
          <a:ln w="12700">
            <a:solidFill>
              <a:srgbClr val="A8C3A0">
                <a:alpha val="6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58184" y="1097280"/>
            <a:ext cx="1554480" cy="36576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078224" y="1325880"/>
            <a:ext cx="914400" cy="914400"/>
          </a:xfrm>
          <a:prstGeom prst="ellipse">
            <a:avLst/>
          </a:prstGeom>
          <a:solidFill>
            <a:srgbClr val="C8B6E2">
              <a:alpha val="75000"/>
            </a:srgbClr>
          </a:solidFill>
          <a:ln w="12700">
            <a:solidFill>
              <a:srgbClr val="C8B6E2">
                <a:alpha val="7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664" y="1417320"/>
            <a:ext cx="731520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758184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758184" y="2880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758184" y="4526280"/>
            <a:ext cx="1554480" cy="228600"/>
          </a:xfrm>
          <a:prstGeom prst="rect">
            <a:avLst/>
          </a:prstGeom>
          <a:solidFill>
            <a:srgbClr val="C8B6E2">
              <a:alpha val="60000"/>
            </a:srgbClr>
          </a:solidFill>
          <a:ln w="12700">
            <a:solidFill>
              <a:srgbClr val="C8B6E2">
                <a:alpha val="6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77256" y="1097280"/>
            <a:ext cx="1554480" cy="36576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97296" y="1325880"/>
            <a:ext cx="914400" cy="914400"/>
          </a:xfrm>
          <a:prstGeom prst="ellipse">
            <a:avLst/>
          </a:prstGeom>
          <a:solidFill>
            <a:srgbClr val="A8C3A0">
              <a:alpha val="75000"/>
            </a:srgbClr>
          </a:solidFill>
          <a:ln w="12700">
            <a:solidFill>
              <a:srgbClr val="A8C3A0">
                <a:alpha val="7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36" y="1417320"/>
            <a:ext cx="731520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77256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77256" y="2880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77256" y="4526280"/>
            <a:ext cx="1554480" cy="228600"/>
          </a:xfrm>
          <a:prstGeom prst="rect">
            <a:avLst/>
          </a:prstGeom>
          <a:solidFill>
            <a:srgbClr val="A8C3A0">
              <a:alpha val="60000"/>
            </a:srgbClr>
          </a:solidFill>
          <a:ln w="12700">
            <a:solidFill>
              <a:srgbClr val="A8C3A0">
                <a:alpha val="6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196328" y="1097280"/>
            <a:ext cx="1554480" cy="36576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516368" y="1325880"/>
            <a:ext cx="914400" cy="914400"/>
          </a:xfrm>
          <a:prstGeom prst="ellipse">
            <a:avLst/>
          </a:prstGeom>
          <a:solidFill>
            <a:srgbClr val="D8A7B1">
              <a:alpha val="75000"/>
            </a:srgbClr>
          </a:solidFill>
          <a:ln w="12700">
            <a:solidFill>
              <a:srgbClr val="D8A7B1">
                <a:alpha val="7500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7808" y="1417320"/>
            <a:ext cx="731520" cy="7315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96328" y="2377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196328" y="2880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7196328" y="4526280"/>
            <a:ext cx="1554480" cy="228600"/>
          </a:xfrm>
          <a:prstGeom prst="rect">
            <a:avLst/>
          </a:prstGeom>
          <a:solidFill>
            <a:srgbClr val="D8A7B1">
              <a:alpha val="60000"/>
            </a:srgbClr>
          </a:solidFill>
          <a:ln w="12700">
            <a:solidFill>
              <a:srgbClr val="D8A7B1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D2440"/>
          </a:solidFill>
          <a:ln w="12700">
            <a:solidFill>
              <a:srgbClr val="2D2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2743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8B6E2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" y="1234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2331720"/>
            <a:ext cx="640080" cy="640080"/>
          </a:xfrm>
          <a:prstGeom prst="ellipse">
            <a:avLst/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3200400"/>
            <a:ext cx="640080" cy="640080"/>
          </a:xfrm>
          <a:prstGeom prst="ellipse">
            <a:avLst/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46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74320" y="4069080"/>
            <a:ext cx="640080" cy="640080"/>
          </a:xfrm>
          <a:prstGeom prst="ellipse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148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474720" y="13716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74720" y="137160"/>
            <a:ext cx="64008" cy="137160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703320" y="228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CNN?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703320" y="594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model that uses convolutional layers to automatically learn spatial hierarchies of features from images.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474720" y="16916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474720" y="1691640"/>
            <a:ext cx="64008" cy="137160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7033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CNNs for Images?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70332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exploit local spatial coherence, reduce parameters through weight sharing, and achieve translation invariance.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474720" y="324612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474720" y="3246120"/>
            <a:ext cx="64008" cy="137160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70332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Layers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70332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 → ReLU Activation → Pooling Layer → Dropout → Fully Connected Layer → Softmax Output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474720" y="4663440"/>
            <a:ext cx="5394960" cy="365760"/>
          </a:xfrm>
          <a:prstGeom prst="rect">
            <a:avLst/>
          </a:prstGeom>
          <a:solidFill>
            <a:srgbClr val="C8B6E2">
              <a:alpha val="3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474720" y="4663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→ Pool → Conv → Pool → Flatten → FC → Softmax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C3A0">
              <a:alpha val="80000"/>
            </a:srgbClr>
          </a:solidFill>
          <a:ln w="12700">
            <a:solidFill>
              <a:srgbClr val="A8C3A0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CNN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D8A7B1">
              <a:alpha val="65000"/>
            </a:srgbClr>
          </a:solidFill>
          <a:ln w="12700">
            <a:solidFill>
              <a:srgbClr val="D8A7B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🖼️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664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19072" y="1645920"/>
            <a:ext cx="228600" cy="0"/>
          </a:xfrm>
          <a:prstGeom prst="line">
            <a:avLst/>
          </a:prstGeom>
          <a:noFill/>
          <a:ln w="25400">
            <a:solidFill>
              <a:srgbClr val="6B5B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224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91440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A8C3A0">
              <a:alpha val="65000"/>
            </a:srgbClr>
          </a:solidFill>
          <a:ln w="12700">
            <a:solidFill>
              <a:srgbClr val="A8C3A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9601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993392" y="1664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38144" y="1645920"/>
            <a:ext cx="228600" cy="0"/>
          </a:xfrm>
          <a:prstGeom prst="line">
            <a:avLst/>
          </a:prstGeom>
          <a:noFill/>
          <a:ln w="25400">
            <a:solidFill>
              <a:srgbClr val="6B5B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12464" y="91440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C8B6E2">
              <a:alpha val="65000"/>
            </a:srgbClr>
          </a:solidFill>
          <a:ln w="12700">
            <a:solidFill>
              <a:srgbClr val="C8B6E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9601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🗜️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712464" y="1664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57216" y="1645920"/>
            <a:ext cx="228600" cy="0"/>
          </a:xfrm>
          <a:prstGeom prst="line">
            <a:avLst/>
          </a:prstGeom>
          <a:noFill/>
          <a:ln w="25400">
            <a:solidFill>
              <a:srgbClr val="6B5B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31536" y="91440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D8A7B1">
              <a:alpha val="65000"/>
            </a:srgbClr>
          </a:solidFill>
          <a:ln w="12700">
            <a:solidFill>
              <a:srgbClr val="D8A7B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9601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31536" y="1664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76288" y="1645920"/>
            <a:ext cx="228600" cy="0"/>
          </a:xfrm>
          <a:prstGeom prst="line">
            <a:avLst/>
          </a:prstGeom>
          <a:noFill/>
          <a:ln w="25400">
            <a:solidFill>
              <a:srgbClr val="6B5B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53619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0608" y="914400"/>
            <a:ext cx="1417320" cy="1463040"/>
          </a:xfrm>
          <a:prstGeom prst="roundRect">
            <a:avLst>
              <a:gd name="adj" fmla="val 7742"/>
            </a:avLst>
          </a:prstGeom>
          <a:solidFill>
            <a:srgbClr val="A8C3A0">
              <a:alpha val="65000"/>
            </a:srgbClr>
          </a:solidFill>
          <a:ln w="12700">
            <a:solidFill>
              <a:srgbClr val="A8C3A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96012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150608" y="1664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606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06040"/>
            <a:ext cx="2743200" cy="347472"/>
          </a:xfrm>
          <a:prstGeom prst="rect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3035808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learnable filters (kernels) to detect edges, textures, and patterns. Each filter slides across the image creating a feature map.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18688" y="2606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2606040"/>
            <a:ext cx="2743200" cy="347472"/>
          </a:xfrm>
          <a:prstGeom prst="rect">
            <a:avLst/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7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10128" y="3035808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spatial dimensions (downsampling) while retaining dominant features. Max Pooling selects the maximum value in each region.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63056" y="260604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2606040"/>
            <a:ext cx="2743200" cy="347472"/>
          </a:xfrm>
          <a:prstGeom prst="rect">
            <a:avLst/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7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54496" y="3035808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feature maps and connects all neurons. Learns classification from high-level features extracted in earlier layers.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B6E2">
              <a:alpha val="80000"/>
            </a:srgbClr>
          </a:solidFill>
          <a:ln w="12700">
            <a:solidFill>
              <a:srgbClr val="C8B6E2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280160" cy="1828800"/>
          </a:xfrm>
          <a:prstGeom prst="roundRect">
            <a:avLst>
              <a:gd name="adj" fmla="val 10714"/>
            </a:avLst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969264"/>
            <a:ext cx="182880" cy="1810512"/>
          </a:xfrm>
          <a:prstGeom prst="rect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8308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detection, X-ray analysis, diabetic retinopathy screening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1280160" cy="1828800"/>
          </a:xfrm>
          <a:prstGeom prst="roundRect">
            <a:avLst>
              <a:gd name="adj" fmla="val 10714"/>
            </a:avLst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969264"/>
            <a:ext cx="182880" cy="1810512"/>
          </a:xfrm>
          <a:prstGeom prst="rect">
            <a:avLst/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7160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YOLO, SSD frameworks detect and localize objects in real-time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1280160" cy="1828800"/>
          </a:xfrm>
          <a:prstGeom prst="roundRect">
            <a:avLst>
              <a:gd name="adj" fmla="val 10714"/>
            </a:avLst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2980944"/>
            <a:ext cx="182880" cy="1810512"/>
          </a:xfrm>
          <a:prstGeom prst="rect">
            <a:avLst/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🚦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78308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 classify road signs with &gt;99%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1280160" cy="1828800"/>
          </a:xfrm>
          <a:prstGeom prst="roundRect">
            <a:avLst>
              <a:gd name="adj" fmla="val 10714"/>
            </a:avLst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2980944"/>
            <a:ext cx="182880" cy="1810512"/>
          </a:xfrm>
          <a:prstGeom prst="rect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3832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🏭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217920" y="3108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defect detection replacing manual inspection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3E0"/>
          </a:solidFill>
          <a:ln w="12700">
            <a:solidFill>
              <a:srgbClr val="FAF3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8A7B1">
              <a:alpha val="80000"/>
            </a:srgbClr>
          </a:solidFill>
          <a:ln w="12700">
            <a:solidFill>
              <a:srgbClr val="D8A7B1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Detection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0" y="960120"/>
            <a:ext cx="3200400" cy="3840480"/>
          </a:xfrm>
          <a:prstGeom prst="roundRect">
            <a:avLst>
              <a:gd name="adj" fmla="val 4286"/>
            </a:avLst>
          </a:prstGeom>
          <a:solidFill>
            <a:srgbClr val="D8A7B1">
              <a:alpha val="3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0972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👤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6446520" y="1234440"/>
            <a:ext cx="164592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A8C3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9443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C3A0"/>
                </a:solidFill>
              </a:rPr>
              <a:t>DETECTED 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0" y="3337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98.7%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3611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Landmarks: 68 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3886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MTCNN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960120"/>
            <a:ext cx="5120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960120"/>
            <a:ext cx="64008" cy="114300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594360" cy="594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34440" y="10332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139903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identifies and locates human faces in digital images/video using learned visual patterns and deep neural networks.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240280"/>
            <a:ext cx="5120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240280"/>
            <a:ext cx="64008" cy="1143000"/>
          </a:xfrm>
          <a:prstGeom prst="rect">
            <a:avLst/>
          </a:prstGeom>
          <a:solidFill>
            <a:srgbClr val="A8C3A0"/>
          </a:solidFill>
          <a:ln w="12700">
            <a:solidFill>
              <a:srgbClr val="A8C3A0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68880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34440" y="23134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234440" y="267919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cascade classifiers (Haar/HOG) or CNNs to scan image regions at multiple scales, identifying face-like patterns.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3520440"/>
            <a:ext cx="5120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74320" y="3520440"/>
            <a:ext cx="64008" cy="1143000"/>
          </a:xfrm>
          <a:prstGeom prst="rect">
            <a:avLst/>
          </a:prstGeom>
          <a:solidFill>
            <a:srgbClr val="D8A7B1"/>
          </a:solidFill>
          <a:ln w="12700">
            <a:solidFill>
              <a:srgbClr val="D8A7B1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49040"/>
            <a:ext cx="594360" cy="5943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34440" y="35935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Process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234440" y="3959352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preprocessing → Feature extraction → Sliding window search → Non-maximum suppression → Bounding box output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8A7B1">
              <a:alpha val="85000"/>
            </a:srgbClr>
          </a:solidFill>
          <a:ln w="12700">
            <a:solidFill>
              <a:srgbClr val="D8A7B1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Detection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188720" cy="1188720"/>
          </a:xfrm>
          <a:prstGeom prst="ellipse">
            <a:avLst/>
          </a:prstGeom>
          <a:solidFill>
            <a:srgbClr val="A8C3A0">
              <a:alpha val="65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📋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74520" y="1024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5727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facial recognition for employee/student attendance tracking without manual 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188720"/>
            <a:ext cx="1188720" cy="1188720"/>
          </a:xfrm>
          <a:prstGeom prst="ellipse">
            <a:avLst/>
          </a:prstGeom>
          <a:solidFill>
            <a:srgbClr val="D8A7B1">
              <a:alpha val="65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🔐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1024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identification, border control, public surveillance and threat detection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0400"/>
            <a:ext cx="1188720" cy="1188720"/>
          </a:xfrm>
          <a:prstGeom prst="ellipse">
            <a:avLst/>
          </a:prstGeom>
          <a:solidFill>
            <a:srgbClr val="C8B6E2">
              <a:alpha val="65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🏷️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874520" y="3035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35844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face tagging in photos (Facebook DeepFace, Google Photos)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200400"/>
            <a:ext cx="1188720" cy="1188720"/>
          </a:xfrm>
          <a:prstGeom prst="ellipse">
            <a:avLst/>
          </a:prstGeom>
          <a:solidFill>
            <a:srgbClr val="D8A7B1">
              <a:alpha val="65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461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📱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309360" y="3035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58444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ID, biometric unlock — secure device access via 3D facial mapping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C3A0">
              <a:alpha val="85000"/>
            </a:srgbClr>
          </a:solidFill>
          <a:ln w="12700">
            <a:solidFill>
              <a:srgbClr val="A8C3A0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Structure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A8C3A0"/>
          </a:solidFill>
          <a:ln w="12700">
            <a:solidFill>
              <a:srgbClr val="A8C3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0" cy="914400"/>
          </a:xfrm>
          <a:prstGeom prst="ellipse">
            <a:avLst/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0759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0698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Pose Estimation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149047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tracks the spatial position of key human body joints in images or video streams using CNNs and heatmap regression.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288036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880360"/>
            <a:ext cx="64008" cy="173736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108960"/>
            <a:ext cx="914400" cy="914400"/>
          </a:xfrm>
          <a:prstGeom prst="ellipse">
            <a:avLst/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27832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990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 Detection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554480" y="3410712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17–33 anatomical landmarks (shoulders, elbows, hips, knees, ankles) with confidence scores using models like OpenPose and MediaPipe.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577840" y="914400"/>
            <a:ext cx="3291840" cy="3931920"/>
          </a:xfrm>
          <a:prstGeom prst="roundRect">
            <a:avLst>
              <a:gd name="adj" fmla="val 5556"/>
            </a:avLst>
          </a:prstGeom>
          <a:solidFill>
            <a:srgbClr val="C8B6E2">
              <a:alpha val="35000"/>
            </a:srgbClr>
          </a:solidFill>
          <a:ln w="12700">
            <a:solidFill>
              <a:srgbClr val="C8B6E2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577840" y="10058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🧍</a:t>
            </a:r>
            <a:endParaRPr lang="en-US" sz="11000" dirty="0"/>
          </a:p>
        </p:txBody>
      </p:sp>
      <p:sp>
        <p:nvSpPr>
          <p:cNvPr id="18" name="Text 14"/>
          <p:cNvSpPr/>
          <p:nvPr/>
        </p:nvSpPr>
        <p:spPr>
          <a:xfrm>
            <a:off x="576072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Keypoints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76072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 •  Shoulders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Elbows  •  Wrists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 •  Knees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C3A0">
              <a:alpha val="85000"/>
            </a:srgbClr>
          </a:solidFill>
          <a:ln w="12700">
            <a:solidFill>
              <a:srgbClr val="A8C3A0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Structure Analysis Applications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502920"/>
          </a:xfrm>
          <a:prstGeom prst="roundRect">
            <a:avLst>
              <a:gd name="adj" fmla="val 27273"/>
            </a:avLst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Sports 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motion analysis, performance metrics, injury prevention and tactical insights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114800" cy="502920"/>
          </a:xfrm>
          <a:prstGeom prst="roundRect">
            <a:avLst>
              <a:gd name="adj" fmla="val 27273"/>
            </a:avLst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Fitness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form correction, rep counting, posture feedback for personalized workouts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114800" cy="502920"/>
          </a:xfrm>
          <a:prstGeom prst="roundRect">
            <a:avLst>
              <a:gd name="adj" fmla="val 27273"/>
            </a:avLst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Healthcare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analysis, rehabilitation monitoring, fall detection for elderly patients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114800" cy="502920"/>
          </a:xfrm>
          <a:prstGeom prst="roundRect">
            <a:avLst>
              <a:gd name="adj" fmla="val 27273"/>
            </a:avLst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capture for avatars, gesture controls, AR/VR body tracking immersion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B6E2">
              <a:alpha val="80000"/>
            </a:srgbClr>
          </a:solidFill>
          <a:ln w="12700">
            <a:solidFill>
              <a:srgbClr val="C8B6E2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Encoder–Decoder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188720" cy="1463040"/>
          </a:xfrm>
          <a:prstGeom prst="roundRect">
            <a:avLst>
              <a:gd name="adj" fmla="val 9231"/>
            </a:avLst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8600" y="17190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44752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5B7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9601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⬇️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features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27832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5B7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440" y="9601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2044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💡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20440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representation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10912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5B7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303520" y="96012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0" y="10058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⬆️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303520" y="171907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output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93992" y="1554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5B7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86600" y="960120"/>
            <a:ext cx="1188720" cy="1463040"/>
          </a:xfrm>
          <a:prstGeom prst="roundRect">
            <a:avLst>
              <a:gd name="adj" fmla="val 9231"/>
            </a:avLst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6600" y="10058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86600" y="171907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71800"/>
            <a:ext cx="2743200" cy="365760"/>
          </a:xfrm>
          <a:prstGeom prst="rect">
            <a:avLst/>
          </a:prstGeom>
          <a:solidFill>
            <a:srgbClr val="A8C3A0">
              <a:alpha val="70000"/>
            </a:srgbClr>
          </a:solidFill>
          <a:ln w="12700">
            <a:solidFill>
              <a:srgbClr val="A8C3A0">
                <a:alpha val="70000"/>
              </a:srgbClr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017520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40080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0040" y="341071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successive convolution + pooling to extract features, progressively reducing spatial dimensions while increasing depth (feature channels).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172968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172968" y="2971800"/>
            <a:ext cx="2743200" cy="365760"/>
          </a:xfrm>
          <a:prstGeom prst="rect">
            <a:avLst/>
          </a:prstGeom>
          <a:solidFill>
            <a:srgbClr val="C8B6E2">
              <a:alpha val="70000"/>
            </a:srgbClr>
          </a:solidFill>
          <a:ln w="12700">
            <a:solidFill>
              <a:srgbClr val="C8B6E2">
                <a:alpha val="70000"/>
              </a:srgbClr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017520"/>
            <a:ext cx="274320" cy="27432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584448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Representation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264408" y="341071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compressed bottleneck vector capturing the most salient features of the input. Acts as a high-dimensional embedding of the visual content.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117336" y="297180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17336" y="2971800"/>
            <a:ext cx="2743200" cy="365760"/>
          </a:xfrm>
          <a:prstGeom prst="rect">
            <a:avLst/>
          </a:prstGeom>
          <a:solidFill>
            <a:srgbClr val="D8A7B1">
              <a:alpha val="70000"/>
            </a:srgbClr>
          </a:solidFill>
          <a:ln w="12700">
            <a:solidFill>
              <a:srgbClr val="D8A7B1">
                <a:alpha val="70000"/>
              </a:srgbClr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3017520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528816" y="3008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208776" y="3410712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transposed convolutions (upsampling) to reconstruct the output, progressively restoring spatial resolution guided by skip connections.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8B6E2">
              <a:alpha val="80000"/>
            </a:srgbClr>
          </a:solidFill>
          <a:ln w="12700">
            <a:solidFill>
              <a:srgbClr val="C8B6E2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Encoder–Decoder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23544"/>
            <a:ext cx="1234440" cy="1810512"/>
          </a:xfrm>
          <a:prstGeom prst="rect">
            <a:avLst/>
          </a:prstGeom>
          <a:solidFill>
            <a:srgbClr val="C8B6E2">
              <a:alpha val="65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923544"/>
            <a:ext cx="182880" cy="1810512"/>
          </a:xfrm>
          <a:prstGeom prst="rect">
            <a:avLst/>
          </a:prstGeom>
          <a:solidFill>
            <a:srgbClr val="C8B6E2">
              <a:alpha val="65000"/>
            </a:srgbClr>
          </a:solidFill>
          <a:ln w="12700">
            <a:solidFill>
              <a:srgbClr val="C8B6E2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🗺️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73736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segments medical images pixel-by-pixel for organ and tumor delineation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23544"/>
            <a:ext cx="1234440" cy="1810512"/>
          </a:xfrm>
          <a:prstGeom prst="rect">
            <a:avLst/>
          </a:prstGeom>
          <a:solidFill>
            <a:srgbClr val="A8C3A0">
              <a:alpha val="65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923544"/>
            <a:ext cx="182880" cy="1810512"/>
          </a:xfrm>
          <a:prstGeom prst="rect">
            <a:avLst/>
          </a:prstGeom>
          <a:solidFill>
            <a:srgbClr val="A8C3A0">
              <a:alpha val="65000"/>
            </a:srgbClr>
          </a:solidFill>
          <a:ln w="12700">
            <a:solidFill>
              <a:srgbClr val="A8C3A0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23444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7220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5087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Denoising, super-resolution, inpainting — restoring corrupted or low-res images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35224"/>
            <a:ext cx="1234440" cy="1810512"/>
          </a:xfrm>
          <a:prstGeom prst="rect">
            <a:avLst/>
          </a:prstGeom>
          <a:solidFill>
            <a:srgbClr val="D8A7B1">
              <a:alpha val="65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935224"/>
            <a:ext cx="182880" cy="1810512"/>
          </a:xfrm>
          <a:prstGeom prst="rect">
            <a:avLst/>
          </a:prstGeom>
          <a:solidFill>
            <a:srgbClr val="D8A7B1">
              <a:alpha val="65000"/>
            </a:srgbClr>
          </a:solidFill>
          <a:ln w="12700">
            <a:solidFill>
              <a:srgbClr val="D8A7B1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461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💬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73736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37360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extracts visual features; decoder RNN/Transformer generates natural language descriptions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148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35224"/>
            <a:ext cx="1234440" cy="1810512"/>
          </a:xfrm>
          <a:prstGeom prst="rect">
            <a:avLst/>
          </a:prstGeom>
          <a:solidFill>
            <a:srgbClr val="C8B6E2">
              <a:alpha val="65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2935224"/>
            <a:ext cx="182880" cy="1810512"/>
          </a:xfrm>
          <a:prstGeom prst="rect">
            <a:avLst/>
          </a:prstGeom>
          <a:solidFill>
            <a:srgbClr val="C8B6E2">
              <a:alpha val="65000"/>
            </a:srgbClr>
          </a:solidFill>
          <a:ln w="12700">
            <a:solidFill>
              <a:srgbClr val="C8B6E2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46120"/>
            <a:ext cx="1234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📦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172200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Compression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Autoencoders (VAE) learn compact latent representations for efficient storage and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2440"/>
          </a:solidFill>
          <a:ln w="12700">
            <a:solidFill>
              <a:srgbClr val="2D24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 of CV Techniques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822960"/>
            <a:ext cx="1463040" cy="502920"/>
          </a:xfrm>
          <a:prstGeom prst="rect">
            <a:avLst/>
          </a:prstGeom>
          <a:solidFill>
            <a:srgbClr val="2D2440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22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00200" y="822960"/>
            <a:ext cx="1828800" cy="502920"/>
          </a:xfrm>
          <a:prstGeom prst="rect">
            <a:avLst/>
          </a:prstGeom>
          <a:solidFill>
            <a:srgbClr val="A8C3A0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822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822960"/>
            <a:ext cx="1828800" cy="502920"/>
          </a:xfrm>
          <a:prstGeom prst="rect">
            <a:avLst/>
          </a:prstGeom>
          <a:solidFill>
            <a:srgbClr val="D8A7B1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822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57800" y="822960"/>
            <a:ext cx="1828800" cy="502920"/>
          </a:xfrm>
          <a:prstGeom prst="rect">
            <a:avLst/>
          </a:prstGeom>
          <a:solidFill>
            <a:srgbClr val="C8B6E2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822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086600" y="822960"/>
            <a:ext cx="2011680" cy="502920"/>
          </a:xfrm>
          <a:prstGeom prst="rect">
            <a:avLst/>
          </a:prstGeom>
          <a:solidFill>
            <a:srgbClr val="9F8BC4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822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" y="1325880"/>
            <a:ext cx="1463040" cy="658368"/>
          </a:xfrm>
          <a:prstGeom prst="rect">
            <a:avLst/>
          </a:prstGeom>
          <a:solidFill>
            <a:srgbClr val="E8E2F0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3258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00200" y="13258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13258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Images/Video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57800" y="132588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3258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Images/Video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86600" y="132588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3258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image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984248"/>
            <a:ext cx="1463040" cy="658368"/>
          </a:xfrm>
          <a:prstGeom prst="rect">
            <a:avLst/>
          </a:prstGeom>
          <a:solidFill>
            <a:srgbClr val="E8E2F0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9842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00200" y="1984248"/>
            <a:ext cx="1828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1984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29000" y="1984248"/>
            <a:ext cx="1828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84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57800" y="1984248"/>
            <a:ext cx="1828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9842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keypoints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86600" y="1984248"/>
            <a:ext cx="201168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984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data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" y="2642616"/>
            <a:ext cx="1463040" cy="658368"/>
          </a:xfrm>
          <a:prstGeom prst="rect">
            <a:avLst/>
          </a:prstGeom>
          <a:solidFill>
            <a:srgbClr val="E8E2F0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6426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00200" y="26426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0" y="26426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VGG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29000" y="26426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26426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MTCNN, YOLO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57800" y="2642616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6426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OpenPose, MediaPipe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086600" y="2642616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2642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U-Net, VAE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7160" y="3300984"/>
            <a:ext cx="1463040" cy="658368"/>
          </a:xfrm>
          <a:prstGeom prst="rect">
            <a:avLst/>
          </a:prstGeom>
          <a:solidFill>
            <a:srgbClr val="E8E2F0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" y="33009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00200" y="3300984"/>
            <a:ext cx="1828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33009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29000" y="3300984"/>
            <a:ext cx="1828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0" y="33009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systems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7800" y="3300984"/>
            <a:ext cx="1828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33009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analysis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3300984"/>
            <a:ext cx="201168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3009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Segmentation/Gen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37160" y="3959352"/>
            <a:ext cx="1463040" cy="658368"/>
          </a:xfrm>
          <a:prstGeom prst="rect">
            <a:avLst/>
          </a:prstGeom>
          <a:solidFill>
            <a:srgbClr val="E8E2F0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39593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600200" y="3959352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45920" y="39593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29000" y="3959352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0" y="39593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57800" y="3959352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0" y="39593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86600" y="3959352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F0">
                <a:alpha val="5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39593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A8C3A0">
              <a:alpha val="85000"/>
            </a:srgbClr>
          </a:solidFill>
          <a:ln w="12700">
            <a:solidFill>
              <a:srgbClr val="A8C3A0">
                <a:alpha val="8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5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3931920"/>
          </a:xfrm>
          <a:prstGeom prst="roundRect">
            <a:avLst>
              <a:gd name="adj" fmla="val 4651"/>
            </a:avLst>
          </a:prstGeom>
          <a:solidFill>
            <a:srgbClr val="A8C3A0">
              <a:alpha val="25000"/>
            </a:srgbClr>
          </a:solidFill>
          <a:ln w="12700">
            <a:solidFill>
              <a:srgbClr val="A8C3A0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114800" cy="502920"/>
          </a:xfrm>
          <a:prstGeom prst="roundRect">
            <a:avLst>
              <a:gd name="adj" fmla="val 36364"/>
            </a:avLst>
          </a:prstGeom>
          <a:solidFill>
            <a:srgbClr val="A8C3A0">
              <a:alpha val="80000"/>
            </a:srgbClr>
          </a:solidFill>
          <a:ln w="12700">
            <a:solidFill>
              <a:srgbClr val="A8C3A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34440" y="202082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Surpasses human-level performance on ImageNet with &lt;3% top-5 error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1480" y="265176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234440" y="30723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inspection across manufacturing, healthcare, agriculture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11480" y="370332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C3A0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40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794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234440" y="412394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 at 30+ FPS enables live video analytics at scale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00600" y="960120"/>
            <a:ext cx="4114800" cy="3931920"/>
          </a:xfrm>
          <a:prstGeom prst="roundRect">
            <a:avLst>
              <a:gd name="adj" fmla="val 4651"/>
            </a:avLst>
          </a:prstGeom>
          <a:solidFill>
            <a:srgbClr val="D8A7B1">
              <a:alpha val="25000"/>
            </a:srgbClr>
          </a:solidFill>
          <a:ln w="12700">
            <a:solidFill>
              <a:srgbClr val="D8A7B1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960120"/>
            <a:ext cx="4114800" cy="502920"/>
          </a:xfrm>
          <a:prstGeom prst="roundRect">
            <a:avLst>
              <a:gd name="adj" fmla="val 36364"/>
            </a:avLst>
          </a:prstGeom>
          <a:solidFill>
            <a:srgbClr val="D8A7B1">
              <a:alpha val="80000"/>
            </a:srgbClr>
          </a:solidFill>
          <a:ln w="12700">
            <a:solidFill>
              <a:srgbClr val="D8A7B1">
                <a:alpha val="8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98348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983480" y="160020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73736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806440" y="1691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 Requirement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806440" y="202082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labeled examples needed; data annotation is costly and time-intensive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983480" y="265176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78892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806440" y="27432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806440" y="30723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requires GPUs/TPUs; inference on edge devices remains challenging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983480" y="3703320"/>
            <a:ext cx="3749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A7B1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840480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06440" y="3794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Factors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806440" y="412394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variations, occlusion, viewpoint changes still cause significant accuracy drops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8B6E2">
              <a:alpha val="15000"/>
            </a:srgbClr>
          </a:solidFill>
          <a:ln w="12700">
            <a:solidFill>
              <a:srgbClr val="C8B6E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A8C3A0">
              <a:alpha val="15000"/>
            </a:srgbClr>
          </a:solidFill>
          <a:ln w="12700">
            <a:solidFill>
              <a:srgbClr val="A8C3A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2743200" cy="45720"/>
          </a:xfrm>
          <a:prstGeom prst="rect">
            <a:avLst/>
          </a:prstGeom>
          <a:solidFill>
            <a:srgbClr val="C8B6E2"/>
          </a:solidFill>
          <a:ln w="12700">
            <a:solidFill>
              <a:srgbClr val="C8B6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1965960" cy="3566160"/>
          </a:xfrm>
          <a:prstGeom prst="roundRect">
            <a:avLst>
              <a:gd name="adj" fmla="val 6977"/>
            </a:avLst>
          </a:prstGeom>
          <a:solidFill>
            <a:srgbClr val="A8C3A0">
              <a:alpha val="2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1143000" cy="1143000"/>
          </a:xfrm>
          <a:prstGeom prst="ellipse">
            <a:avLst/>
          </a:prstGeom>
          <a:solidFill>
            <a:srgbClr val="A8C3A0">
              <a:alpha val="55000"/>
            </a:srgbClr>
          </a:solidFill>
          <a:ln w="12700">
            <a:solidFill>
              <a:srgbClr val="A8C3A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🔬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image recognition with deep feature learning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1965960" cy="3566160"/>
          </a:xfrm>
          <a:prstGeom prst="roundRect">
            <a:avLst>
              <a:gd name="adj" fmla="val 6977"/>
            </a:avLst>
          </a:prstGeom>
          <a:solidFill>
            <a:srgbClr val="D8A7B1">
              <a:alpha val="20000"/>
            </a:srgbClr>
          </a:solidFill>
          <a:ln w="12700">
            <a:solidFill>
              <a:srgbClr val="D8A7B1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62072" y="1325880"/>
            <a:ext cx="1143000" cy="1143000"/>
          </a:xfrm>
          <a:prstGeom prst="ellipse">
            <a:avLst/>
          </a:prstGeom>
          <a:solidFill>
            <a:srgbClr val="D8A7B1">
              <a:alpha val="55000"/>
            </a:srgbClr>
          </a:solidFill>
          <a:ln w="12700">
            <a:solidFill>
              <a:srgbClr val="D8A7B1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1371600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542032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3154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identification and authentication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26864" y="1097280"/>
            <a:ext cx="1965960" cy="3566160"/>
          </a:xfrm>
          <a:prstGeom prst="roundRect">
            <a:avLst>
              <a:gd name="adj" fmla="val 6977"/>
            </a:avLst>
          </a:prstGeom>
          <a:solidFill>
            <a:srgbClr val="C8B6E2">
              <a:alpha val="20000"/>
            </a:srgbClr>
          </a:solidFill>
          <a:ln w="12700">
            <a:solidFill>
              <a:srgbClr val="C8B6E2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38344" y="1325880"/>
            <a:ext cx="1143000" cy="1143000"/>
          </a:xfrm>
          <a:prstGeom prst="ellipse">
            <a:avLst/>
          </a:prstGeom>
          <a:solidFill>
            <a:srgbClr val="C8B6E2">
              <a:alpha val="55000"/>
            </a:srgbClr>
          </a:solidFill>
          <a:ln w="12700">
            <a:solidFill>
              <a:srgbClr val="C8B6E2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38344" y="1371600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🧍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18304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Analysis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18304" y="3154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Skeletal pose estimation for motion and health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03136" y="1097280"/>
            <a:ext cx="1965960" cy="3566160"/>
          </a:xfrm>
          <a:prstGeom prst="roundRect">
            <a:avLst>
              <a:gd name="adj" fmla="val 6977"/>
            </a:avLst>
          </a:prstGeom>
          <a:solidFill>
            <a:srgbClr val="A8C3A0">
              <a:alpha val="20000"/>
            </a:srgbClr>
          </a:solidFill>
          <a:ln w="12700">
            <a:solidFill>
              <a:srgbClr val="A8C3A0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9B8EA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14616" y="1325880"/>
            <a:ext cx="1143000" cy="1143000"/>
          </a:xfrm>
          <a:prstGeom prst="ellipse">
            <a:avLst/>
          </a:prstGeom>
          <a:solidFill>
            <a:srgbClr val="A8C3A0">
              <a:alpha val="55000"/>
            </a:srgbClr>
          </a:solidFill>
          <a:ln w="12700">
            <a:solidFill>
              <a:srgbClr val="A8C3A0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14616" y="1371600"/>
            <a:ext cx="1143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894576" y="26060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94576" y="3154680"/>
            <a:ext cx="1783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Compression, segmentation, and reconstruction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B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is transforming industries through intelligent visual understanding.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C8B6E2">
              <a:alpha val="18000"/>
            </a:srgbClr>
          </a:solidFill>
          <a:ln w="12700">
            <a:solidFill>
              <a:srgbClr val="C8B6E2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D8A7B1">
              <a:alpha val="15000"/>
            </a:srgbClr>
          </a:solidFill>
          <a:ln w="12700">
            <a:solidFill>
              <a:srgbClr val="D8A7B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-457200"/>
            <a:ext cx="2286000" cy="2286000"/>
          </a:xfrm>
          <a:prstGeom prst="ellipse">
            <a:avLst/>
          </a:prstGeom>
          <a:solidFill>
            <a:srgbClr val="A8C3A0">
              <a:alpha val="12000"/>
            </a:srgbClr>
          </a:solidFill>
          <a:ln w="12700">
            <a:solidFill>
              <a:srgbClr val="A8C3A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365760"/>
            <a:ext cx="1280160" cy="1280160"/>
          </a:xfrm>
          <a:prstGeom prst="ellipse">
            <a:avLst/>
          </a:prstGeom>
          <a:solidFill>
            <a:srgbClr val="C8B6E2">
              <a:alpha val="50000"/>
            </a:srgbClr>
          </a:solidFill>
          <a:ln w="12700">
            <a:solidFill>
              <a:srgbClr val="C8B6E2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544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2926080" y="2697480"/>
            <a:ext cx="3291840" cy="64008"/>
          </a:xfrm>
          <a:prstGeom prst="rect">
            <a:avLst/>
          </a:prstGeom>
          <a:solidFill>
            <a:srgbClr val="A8C3A0"/>
          </a:solidFill>
          <a:ln w="12700">
            <a:solidFill>
              <a:srgbClr val="A8C3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286000" y="3703320"/>
            <a:ext cx="685800" cy="685800"/>
          </a:xfrm>
          <a:prstGeom prst="ellipse">
            <a:avLst/>
          </a:prstGeom>
          <a:solidFill>
            <a:srgbClr val="A8C3A0">
              <a:alpha val="50000"/>
            </a:srgbClr>
          </a:solidFill>
          <a:ln w="12700">
            <a:solidFill>
              <a:srgbClr val="A8C3A0">
                <a:alpha val="4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822192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91840" y="3703320"/>
            <a:ext cx="685800" cy="685800"/>
          </a:xfrm>
          <a:prstGeom prst="ellipse">
            <a:avLst/>
          </a:prstGeom>
          <a:solidFill>
            <a:srgbClr val="C8B6E2">
              <a:alpha val="50000"/>
            </a:srgbClr>
          </a:solidFill>
          <a:ln w="12700">
            <a:solidFill>
              <a:srgbClr val="C8B6E2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822192"/>
            <a:ext cx="457200" cy="4572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297680" y="3703320"/>
            <a:ext cx="685800" cy="685800"/>
          </a:xfrm>
          <a:prstGeom prst="ellipse">
            <a:avLst/>
          </a:prstGeom>
          <a:solidFill>
            <a:srgbClr val="D8A7B1">
              <a:alpha val="50000"/>
            </a:srgbClr>
          </a:solidFill>
          <a:ln w="12700">
            <a:solidFill>
              <a:srgbClr val="D8A7B1">
                <a:alpha val="4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3822192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303520" y="3703320"/>
            <a:ext cx="685800" cy="685800"/>
          </a:xfrm>
          <a:prstGeom prst="ellipse">
            <a:avLst/>
          </a:prstGeom>
          <a:solidFill>
            <a:srgbClr val="A8C3A0">
              <a:alpha val="50000"/>
            </a:srgbClr>
          </a:solidFill>
          <a:ln w="12700">
            <a:solidFill>
              <a:srgbClr val="A8C3A0">
                <a:alpha val="4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822192"/>
            <a:ext cx="457200" cy="45720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309360" y="3703320"/>
            <a:ext cx="685800" cy="685800"/>
          </a:xfrm>
          <a:prstGeom prst="ellipse">
            <a:avLst/>
          </a:prstGeom>
          <a:solidFill>
            <a:srgbClr val="C8B6E2">
              <a:alpha val="50000"/>
            </a:srgbClr>
          </a:solidFill>
          <a:ln w="12700">
            <a:solidFill>
              <a:srgbClr val="C8B6E2">
                <a:alpha val="40000"/>
              </a:srgbClr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3822192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984</Words>
  <Application>Microsoft Office PowerPoint</Application>
  <PresentationFormat>On-screen Show (16:9)</PresentationFormat>
  <Paragraphs>251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subject>PptxGenJS Presentation</dc:subject>
  <dc:creator>PptxGenJS</dc:creator>
  <cp:lastModifiedBy>Divya Singh</cp:lastModifiedBy>
  <cp:revision>2</cp:revision>
  <dcterms:created xsi:type="dcterms:W3CDTF">2026-06-01T19:37:03Z</dcterms:created>
  <dcterms:modified xsi:type="dcterms:W3CDTF">2026-06-01T19:57:15Z</dcterms:modified>
</cp:coreProperties>
</file>